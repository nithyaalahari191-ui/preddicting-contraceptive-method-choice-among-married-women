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5359" y="1914525"/>
            <a:ext cx="1428750" cy="142875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984" y="2343150"/>
            <a:ext cx="571500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105131" y="1530297"/>
            <a:ext cx="5524519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Predicting Contraceptive Method Choice Using Machine Learning</a:t>
            </a:r>
            <a:endParaRPr lang="en-US" sz="3294" dirty="0"/>
          </a:p>
        </p:txBody>
      </p:sp>
      <p:sp>
        <p:nvSpPr>
          <p:cNvPr id="6" name="Text 2"/>
          <p:cNvSpPr/>
          <p:nvPr/>
        </p:nvSpPr>
        <p:spPr>
          <a:xfrm>
            <a:off x="3105131" y="3210474"/>
            <a:ext cx="552451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MSc Data Science | University of Hertfordshire</a:t>
            </a:r>
            <a:endParaRPr lang="en-US" sz="1704" dirty="0"/>
          </a:p>
        </p:txBody>
      </p:sp>
      <p:sp>
        <p:nvSpPr>
          <p:cNvPr id="7" name="Text 3"/>
          <p:cNvSpPr/>
          <p:nvPr/>
        </p:nvSpPr>
        <p:spPr>
          <a:xfrm>
            <a:off x="3105131" y="3774830"/>
            <a:ext cx="1971675" cy="25896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 </a:t>
            </a:r>
            <a:r>
              <a:rPr lang="en-US" sz="987" b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Nithya Alahari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3351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9578" y="1128713"/>
            <a:ext cx="2143125" cy="2143125"/>
          </a:xfrm>
          <a:prstGeom prst="ellipse">
            <a:avLst/>
          </a:prstGeom>
          <a:solidFill>
            <a:srgbClr val="F39C12">
              <a:alpha val="9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56" y="1843088"/>
            <a:ext cx="892969" cy="714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105131" y="913256"/>
            <a:ext cx="2023467" cy="55721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Introduction</a:t>
            </a:r>
            <a:endParaRPr lang="en-US" sz="2436" dirty="0"/>
          </a:p>
        </p:txBody>
      </p:sp>
      <p:sp>
        <p:nvSpPr>
          <p:cNvPr id="6" name="Text 2"/>
          <p:cNvSpPr/>
          <p:nvPr/>
        </p:nvSpPr>
        <p:spPr>
          <a:xfrm>
            <a:off x="3333731" y="1934812"/>
            <a:ext cx="529591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Contraceptive choice is a pivotal factor in public health and family planning worldwide.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3333731" y="2662024"/>
            <a:ext cx="529591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Decisions are influenced by complex socioeconomic, cultural, and demographic factors.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3333731" y="3389235"/>
            <a:ext cx="529591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analysis often misses non-linear patterns within demographic data.</a:t>
            </a:r>
            <a:endParaRPr lang="en-US" sz="1269" dirty="0"/>
          </a:p>
        </p:txBody>
      </p:sp>
      <p:sp>
        <p:nvSpPr>
          <p:cNvPr id="9" name="Text 5"/>
          <p:cNvSpPr/>
          <p:nvPr/>
        </p:nvSpPr>
        <p:spPr>
          <a:xfrm>
            <a:off x="3333731" y="4116446"/>
            <a:ext cx="529591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 enables more accurate, data-driven predictions for better support.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3333731" y="4843658"/>
            <a:ext cx="529591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develops a predictive pipeline using structured demographic datasets.</a:t>
            </a:r>
            <a:endParaRPr lang="en-US" sz="12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9578" y="1128713"/>
            <a:ext cx="2143125" cy="2143125"/>
          </a:xfrm>
          <a:prstGeom prst="ellipse">
            <a:avLst/>
          </a:prstGeom>
          <a:solidFill>
            <a:srgbClr val="2C3E50">
              <a:alpha val="9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305" y="1843088"/>
            <a:ext cx="803672" cy="714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105131" y="913256"/>
            <a:ext cx="2811066" cy="55721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Literature Review</a:t>
            </a:r>
            <a:endParaRPr lang="en-US" sz="2436" dirty="0"/>
          </a:p>
        </p:txBody>
      </p:sp>
      <p:sp>
        <p:nvSpPr>
          <p:cNvPr id="6" name="Text 2"/>
          <p:cNvSpPr/>
          <p:nvPr/>
        </p:nvSpPr>
        <p:spPr>
          <a:xfrm>
            <a:off x="3362306" y="1934812"/>
            <a:ext cx="526734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Adem et al. (2025)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Focused on explainable ML for family planning 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support.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3362306" y="2616315"/>
            <a:ext cx="526734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Yehuala et al. (2024)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Predicted non-use of family planning using 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ML techniques.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3362306" y="3297817"/>
            <a:ext cx="526734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Kassaw et al. (2025)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Investigated machine learning-based fertility 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prediction.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3362306" y="3979320"/>
            <a:ext cx="526734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Melaku et al. (2025)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Applied algorithms to model predictors of 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informed choice.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3362306" y="4660822"/>
            <a:ext cx="526734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studies highlight the shift toward algorithmic support in reproductive health.</a:t>
            </a:r>
            <a:endParaRPr lang="en-US" sz="115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891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9578" y="1128713"/>
            <a:ext cx="2143125" cy="2143125"/>
          </a:xfrm>
          <a:prstGeom prst="ellipse">
            <a:avLst/>
          </a:prstGeom>
          <a:solidFill>
            <a:srgbClr val="27AE60">
              <a:alpha val="9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602" y="1843088"/>
            <a:ext cx="625078" cy="714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105131" y="913256"/>
            <a:ext cx="2764631" cy="55721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Dataset Overview</a:t>
            </a:r>
            <a:endParaRPr lang="en-US" sz="2436" dirty="0"/>
          </a:p>
        </p:txBody>
      </p:sp>
      <p:sp>
        <p:nvSpPr>
          <p:cNvPr id="6" name="Shape 2"/>
          <p:cNvSpPr/>
          <p:nvPr/>
        </p:nvSpPr>
        <p:spPr>
          <a:xfrm>
            <a:off x="3105131" y="1899093"/>
            <a:ext cx="1119727" cy="40540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3"/>
          <p:cNvSpPr/>
          <p:nvPr/>
        </p:nvSpPr>
        <p:spPr>
          <a:xfrm>
            <a:off x="3105131" y="1899093"/>
            <a:ext cx="1119727" cy="4054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Metric</a:t>
            </a:r>
            <a:endParaRPr lang="en-US" sz="987" dirty="0"/>
          </a:p>
        </p:txBody>
      </p:sp>
      <p:sp>
        <p:nvSpPr>
          <p:cNvPr id="8" name="Shape 4"/>
          <p:cNvSpPr/>
          <p:nvPr/>
        </p:nvSpPr>
        <p:spPr>
          <a:xfrm>
            <a:off x="4224858" y="1899093"/>
            <a:ext cx="4404792" cy="40540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9" name="Text 5"/>
          <p:cNvSpPr/>
          <p:nvPr/>
        </p:nvSpPr>
        <p:spPr>
          <a:xfrm>
            <a:off x="4224858" y="1899093"/>
            <a:ext cx="4404792" cy="40540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Details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3105131" y="2304501"/>
            <a:ext cx="1119727" cy="39112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332015" y="2411657"/>
            <a:ext cx="238065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UCI Machine Learning Repository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105131" y="2695622"/>
            <a:ext cx="1119727" cy="39469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Size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224858" y="2695622"/>
            <a:ext cx="4404792" cy="39469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1,473 samples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105131" y="3090314"/>
            <a:ext cx="1119727" cy="39469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224858" y="3090314"/>
            <a:ext cx="4404792" cy="39469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demographic &amp; socioeconomic attributes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105131" y="3485006"/>
            <a:ext cx="1119727" cy="39469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224858" y="3485006"/>
            <a:ext cx="4404792" cy="39469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classes (No use, Short-term, Long-term)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333731" y="4061864"/>
            <a:ext cx="529591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Integrity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High quality with no missing values, ensuring robust 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training.</a:t>
            </a:r>
            <a:endParaRPr lang="en-US" sz="1090" dirty="0"/>
          </a:p>
        </p:txBody>
      </p:sp>
      <p:sp>
        <p:nvSpPr>
          <p:cNvPr id="19" name="Text 15"/>
          <p:cNvSpPr/>
          <p:nvPr/>
        </p:nvSpPr>
        <p:spPr>
          <a:xfrm>
            <a:off x="3333731" y="4743366"/>
            <a:ext cx="529591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Distribution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Imbalanced distribution across the three 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contraceptive classes.</a:t>
            </a:r>
            <a:endParaRPr lang="en-US" sz="10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56378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9578" y="1128713"/>
            <a:ext cx="2143125" cy="2143125"/>
          </a:xfrm>
          <a:prstGeom prst="ellipse">
            <a:avLst/>
          </a:prstGeom>
          <a:solidFill>
            <a:srgbClr val="27AE60">
              <a:alpha val="9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56" y="1843088"/>
            <a:ext cx="892969" cy="714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105131" y="913256"/>
            <a:ext cx="5524519" cy="10144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Ethical Implications &amp; Responsible AI</a:t>
            </a:r>
            <a:endParaRPr lang="en-US" sz="2436" dirty="0"/>
          </a:p>
        </p:txBody>
      </p:sp>
      <p:sp>
        <p:nvSpPr>
          <p:cNvPr id="6" name="Text 2"/>
          <p:cNvSpPr/>
          <p:nvPr/>
        </p:nvSpPr>
        <p:spPr>
          <a:xfrm>
            <a:off x="3362306" y="2392012"/>
            <a:ext cx="526734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Privacy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No personally identifiable information is used, 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ensuring full user anonymity and privacy protection.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3362306" y="3073515"/>
            <a:ext cx="526734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Bias &amp; Fairness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Models may inherit cultural or socioeconomic 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biases; fairness checks are essential for equitable outcomes.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3362306" y="3755017"/>
            <a:ext cx="526734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Uses publicly available datasets with proper licensing 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alignment with ethical AI guidelines.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3362306" y="4436520"/>
            <a:ext cx="526734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Impact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Improves family planning access, though ethical 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 is critical in sensitive healthcare domains.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3362306" y="5118022"/>
            <a:ext cx="5267344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Accountability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Transparent workflows ensure that algorithmic 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decisions remain auditable and explainable to stakeholders.</a:t>
            </a:r>
            <a:endParaRPr lang="en-US" sz="10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00" y="1128713"/>
            <a:ext cx="1571625" cy="1571625"/>
          </a:xfrm>
          <a:prstGeom prst="ellipse">
            <a:avLst/>
          </a:prstGeom>
          <a:solidFill>
            <a:srgbClr val="27AE60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200275" y="877677"/>
            <a:ext cx="1898452" cy="5000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EDA Findings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2378869" y="1734927"/>
            <a:ext cx="27503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Analyzed target distribution using count plots to identify class imbalances.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2378869" y="2263564"/>
            <a:ext cx="275034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Studied feature distributions via histograms to understand demographic spreads.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2378869" y="2985083"/>
            <a:ext cx="27503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Explored feature-target relationships using boxplots and barplots for initial insights.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2378869" y="3513720"/>
            <a:ext cx="275034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Generated correlation heatmaps which revealed weak linear relationships between features.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2378869" y="4235239"/>
            <a:ext cx="275034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EDA results guided the selection of non-linear models like SVM and Random Forest.</a:t>
            </a:r>
            <a:endParaRPr lang="en-US" sz="942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963" y="914400"/>
            <a:ext cx="3357563" cy="26157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41839" y="3637257"/>
            <a:ext cx="19038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Original Correlation Matrix of Features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669983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92" y="771525"/>
            <a:ext cx="4929188" cy="3857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57838" y="877677"/>
            <a:ext cx="3071813" cy="9001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Machine Learning Pipeline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815013" y="2242133"/>
            <a:ext cx="281463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Collection &amp; Exploration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Loaded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from UCI repository, performed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EDA to understand distributions and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relationships.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5815013" y="3220827"/>
            <a:ext cx="281463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Preprocessing &amp; Feature Engineering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Applied encoding (One-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Hot, Label Encoding), used Power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Transformation and scaling.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5815013" y="4199520"/>
            <a:ext cx="28146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Training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Trained Logistic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Regression, Random Forest, and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Vector Machine (SVM).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815013" y="4978189"/>
            <a:ext cx="281463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&amp; Optimization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Evaluated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using Accuracy, Precision, Recall, F1-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score, Confusion Matrix, and ROC-AUC.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Applied hyperparameter tuning.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5815013" y="5956883"/>
            <a:ext cx="281463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Selection &amp; Prediction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Compared all models, selected SVM as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(~96% accuracy), and used the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model for prediction.</a:t>
            </a:r>
            <a:endParaRPr lang="en-US" sz="98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877677"/>
            <a:ext cx="2205633" cy="5000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Model Selection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628650" y="1877802"/>
            <a:ext cx="285750" cy="285750"/>
          </a:xfrm>
          <a:prstGeom prst="ellipse">
            <a:avLst/>
          </a:prstGeom>
          <a:solidFill>
            <a:srgbClr val="2C3E5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68" y="1956383"/>
            <a:ext cx="112514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1556" y="1934059"/>
            <a:ext cx="145375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628650" y="2234989"/>
            <a:ext cx="3086100" cy="320018"/>
          </a:xfrm>
          <a:prstGeom prst="rect">
            <a:avLst/>
          </a:prstGeom>
          <a:noFill/>
          <a:ln/>
        </p:spPr>
        <p:txBody>
          <a:bodyPr wrap="square" lIns="467741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linear model for initial performance comparison and interpretability.</a:t>
            </a:r>
            <a:endParaRPr lang="en-US" sz="834" dirty="0"/>
          </a:p>
        </p:txBody>
      </p:sp>
      <p:sp>
        <p:nvSpPr>
          <p:cNvPr id="8" name="Shape 4"/>
          <p:cNvSpPr/>
          <p:nvPr/>
        </p:nvSpPr>
        <p:spPr>
          <a:xfrm>
            <a:off x="628650" y="2769319"/>
            <a:ext cx="285750" cy="285750"/>
          </a:xfrm>
          <a:prstGeom prst="ellipse">
            <a:avLst/>
          </a:prstGeom>
          <a:solidFill>
            <a:srgbClr val="2C3E50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68" y="2847901"/>
            <a:ext cx="112514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1556" y="2825576"/>
            <a:ext cx="114121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628650" y="3126507"/>
            <a:ext cx="3086100" cy="320018"/>
          </a:xfrm>
          <a:prstGeom prst="rect">
            <a:avLst/>
          </a:prstGeom>
          <a:noFill/>
          <a:ln/>
        </p:spPr>
        <p:txBody>
          <a:bodyPr wrap="square" lIns="467741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Ensemble method capturing complex, non-linear patterns through decision trees.</a:t>
            </a:r>
            <a:endParaRPr lang="en-US" sz="834" dirty="0"/>
          </a:p>
        </p:txBody>
      </p:sp>
      <p:sp>
        <p:nvSpPr>
          <p:cNvPr id="12" name="Shape 7"/>
          <p:cNvSpPr/>
          <p:nvPr/>
        </p:nvSpPr>
        <p:spPr>
          <a:xfrm>
            <a:off x="628650" y="3660837"/>
            <a:ext cx="285750" cy="285750"/>
          </a:xfrm>
          <a:prstGeom prst="ellipse">
            <a:avLst/>
          </a:prstGeom>
          <a:solidFill>
            <a:srgbClr val="2C3E5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95" y="3739418"/>
            <a:ext cx="144661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1556" y="3717094"/>
            <a:ext cx="18109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Vector Machine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628650" y="4018025"/>
            <a:ext cx="3086100" cy="320018"/>
          </a:xfrm>
          <a:prstGeom prst="rect">
            <a:avLst/>
          </a:prstGeom>
          <a:noFill/>
          <a:ln/>
        </p:spPr>
        <p:txBody>
          <a:bodyPr wrap="square" lIns="467741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Optimized for finding the best decision boundary in high-dimensional space.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771525"/>
            <a:ext cx="4572000" cy="435260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43550" y="877677"/>
            <a:ext cx="3086100" cy="9001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Confusion Matrix: SVM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800725" y="2242133"/>
            <a:ext cx="28289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Balanced Prediction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SVM achieved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balanced precision and recall across all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contraceptive method classes.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5800725" y="3106527"/>
            <a:ext cx="28289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Identification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Successfully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distinguishes between 'No Use', 'Short-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term', and 'Long-term' methods with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minimal overlap.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5800725" y="4199520"/>
            <a:ext cx="28289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Reliability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High diagonal values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indicate strong predictive accuracy for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primary demographic target.</a:t>
            </a:r>
            <a:endParaRPr lang="en-US" sz="98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46396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771525"/>
            <a:ext cx="4572000" cy="369250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43550" y="877677"/>
            <a:ext cx="3086100" cy="9001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ROC-AUC Curve Analysis</a:t>
            </a:r>
            <a:endParaRPr lang="en-US" sz="2121" dirty="0"/>
          </a:p>
        </p:txBody>
      </p:sp>
      <p:sp>
        <p:nvSpPr>
          <p:cNvPr id="5" name="Text 1"/>
          <p:cNvSpPr/>
          <p:nvPr/>
        </p:nvSpPr>
        <p:spPr>
          <a:xfrm>
            <a:off x="5800725" y="2242133"/>
            <a:ext cx="28289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1 AUC: </a:t>
            </a:r>
            <a:r>
              <a:rPr lang="en-US" sz="987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0.78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Strong predictive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for the first contraceptive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category.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5800725" y="3106527"/>
            <a:ext cx="28289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2 AUC: </a:t>
            </a:r>
            <a:r>
              <a:rPr lang="en-US" sz="987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0.75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Consistent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in identifying short-term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 choices.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5800725" y="3970920"/>
            <a:ext cx="2828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3 AUC: </a:t>
            </a:r>
            <a:r>
              <a:rPr lang="en-US" sz="987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0.71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Reliable classification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long-term method users.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800725" y="4606714"/>
            <a:ext cx="28289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three classes performed significantly better than random chance (represented by the diagonal line).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877677"/>
            <a:ext cx="3579019" cy="5000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Performance Comparison</a:t>
            </a:r>
            <a:endParaRPr lang="en-US" sz="2121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06364"/>
            <a:ext cx="4414838" cy="3214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23365" y="1343025"/>
            <a:ext cx="340628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SVM (Best)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Achieved the highest accuracy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(~96%) and balanced class-wise performance.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5223365" y="1914525"/>
            <a:ext cx="340628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Delivered strong performance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92% accuracy via ensemble learning.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5223365" y="2486025"/>
            <a:ext cx="340628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Provided a baseline of 78% 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accuracy, highlighting the need for non-</a:t>
            </a: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linearity.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223365" y="3271838"/>
            <a:ext cx="340628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metrics included Accuracy, Precision, Recall, and F1-score for comprehensive assessment.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223365" y="4057650"/>
            <a:ext cx="340628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Hyperparameter tuning was applied to maximize the efficiency of the SVM model.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088" y="913256"/>
            <a:ext cx="4434483" cy="55721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Detailed Model Comparison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700088" y="2041968"/>
            <a:ext cx="7858125" cy="20556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710803" y="2041968"/>
            <a:ext cx="3847216" cy="52506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3"/>
          <p:cNvSpPr/>
          <p:nvPr/>
        </p:nvSpPr>
        <p:spPr>
          <a:xfrm>
            <a:off x="710803" y="2041968"/>
            <a:ext cx="3847216" cy="52506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Model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4558019" y="2041968"/>
            <a:ext cx="1068465" cy="52506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8" name="Text 5"/>
          <p:cNvSpPr/>
          <p:nvPr/>
        </p:nvSpPr>
        <p:spPr>
          <a:xfrm>
            <a:off x="4558019" y="2041968"/>
            <a:ext cx="1068465" cy="52506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Accuracy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5626484" y="2041968"/>
            <a:ext cx="1027277" cy="52506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0" name="Text 7"/>
          <p:cNvSpPr/>
          <p:nvPr/>
        </p:nvSpPr>
        <p:spPr>
          <a:xfrm>
            <a:off x="5626484" y="2041968"/>
            <a:ext cx="1027277" cy="52506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F1-Score</a:t>
            </a:r>
            <a:endParaRPr lang="en-US" sz="1193" dirty="0"/>
          </a:p>
        </p:txBody>
      </p:sp>
      <p:sp>
        <p:nvSpPr>
          <p:cNvPr id="11" name="Shape 8"/>
          <p:cNvSpPr/>
          <p:nvPr/>
        </p:nvSpPr>
        <p:spPr>
          <a:xfrm>
            <a:off x="6653761" y="2041968"/>
            <a:ext cx="1083422" cy="52506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2" name="Text 9"/>
          <p:cNvSpPr/>
          <p:nvPr/>
        </p:nvSpPr>
        <p:spPr>
          <a:xfrm>
            <a:off x="6653761" y="2041968"/>
            <a:ext cx="1083422" cy="52506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Precision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7737184" y="2041968"/>
            <a:ext cx="810313" cy="52506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4" name="Text 11"/>
          <p:cNvSpPr/>
          <p:nvPr/>
        </p:nvSpPr>
        <p:spPr>
          <a:xfrm>
            <a:off x="7737184" y="2041968"/>
            <a:ext cx="810313" cy="52506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Recall</a:t>
            </a:r>
            <a:endParaRPr lang="en-US" sz="1193" dirty="0"/>
          </a:p>
        </p:txBody>
      </p:sp>
      <p:sp>
        <p:nvSpPr>
          <p:cNvPr id="15" name="Shape 12"/>
          <p:cNvSpPr/>
          <p:nvPr/>
        </p:nvSpPr>
        <p:spPr>
          <a:xfrm>
            <a:off x="710803" y="2567034"/>
            <a:ext cx="7836694" cy="516136"/>
          </a:xfrm>
          <a:prstGeom prst="rect">
            <a:avLst/>
          </a:prstGeom>
          <a:solidFill>
            <a:srgbClr val="27AE60">
              <a:alpha val="10000"/>
            </a:srgbClr>
          </a:solidFill>
          <a:ln w="18288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2963" y="2699193"/>
            <a:ext cx="274855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Vector Machine (SVM)</a:t>
            </a:r>
            <a:endParaRPr lang="en-US" sz="1193" dirty="0"/>
          </a:p>
        </p:txBody>
      </p:sp>
      <p:sp>
        <p:nvSpPr>
          <p:cNvPr id="17" name="Shape 14"/>
          <p:cNvSpPr/>
          <p:nvPr/>
        </p:nvSpPr>
        <p:spPr>
          <a:xfrm>
            <a:off x="3707606" y="2714904"/>
            <a:ext cx="510778" cy="210741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8" name="Text 15"/>
          <p:cNvSpPr/>
          <p:nvPr/>
        </p:nvSpPr>
        <p:spPr>
          <a:xfrm>
            <a:off x="3707606" y="2714904"/>
            <a:ext cx="510778" cy="210741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694979" y="2699193"/>
            <a:ext cx="36433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96%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5767880" y="2699193"/>
            <a:ext cx="3768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0.96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6799455" y="2699193"/>
            <a:ext cx="37504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0.97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7887398" y="2699193"/>
            <a:ext cx="36968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0.95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700088" y="3054595"/>
            <a:ext cx="3852016" cy="50184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1269" dirty="0"/>
          </a:p>
        </p:txBody>
      </p:sp>
      <p:sp>
        <p:nvSpPr>
          <p:cNvPr id="24" name="Text 21"/>
          <p:cNvSpPr/>
          <p:nvPr/>
        </p:nvSpPr>
        <p:spPr>
          <a:xfrm>
            <a:off x="4552104" y="3054595"/>
            <a:ext cx="1072902" cy="50184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92%</a:t>
            </a:r>
            <a:endParaRPr lang="en-US" sz="1269" dirty="0"/>
          </a:p>
        </p:txBody>
      </p:sp>
      <p:sp>
        <p:nvSpPr>
          <p:cNvPr id="25" name="Text 22"/>
          <p:cNvSpPr/>
          <p:nvPr/>
        </p:nvSpPr>
        <p:spPr>
          <a:xfrm>
            <a:off x="5625005" y="3054595"/>
            <a:ext cx="1031574" cy="50184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0.91</a:t>
            </a:r>
            <a:endParaRPr lang="en-US" sz="1269" dirty="0"/>
          </a:p>
        </p:txBody>
      </p:sp>
      <p:sp>
        <p:nvSpPr>
          <p:cNvPr id="26" name="Text 23"/>
          <p:cNvSpPr/>
          <p:nvPr/>
        </p:nvSpPr>
        <p:spPr>
          <a:xfrm>
            <a:off x="6656580" y="3054595"/>
            <a:ext cx="1087943" cy="50184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0.92</a:t>
            </a:r>
            <a:endParaRPr lang="en-US" sz="1269" dirty="0"/>
          </a:p>
        </p:txBody>
      </p:sp>
      <p:sp>
        <p:nvSpPr>
          <p:cNvPr id="27" name="Text 24"/>
          <p:cNvSpPr/>
          <p:nvPr/>
        </p:nvSpPr>
        <p:spPr>
          <a:xfrm>
            <a:off x="7744523" y="3054595"/>
            <a:ext cx="813690" cy="50184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0.90</a:t>
            </a:r>
            <a:endParaRPr lang="en-US" sz="1269" dirty="0"/>
          </a:p>
        </p:txBody>
      </p:sp>
      <p:sp>
        <p:nvSpPr>
          <p:cNvPr id="28" name="Text 25"/>
          <p:cNvSpPr/>
          <p:nvPr/>
        </p:nvSpPr>
        <p:spPr>
          <a:xfrm>
            <a:off x="700088" y="3556443"/>
            <a:ext cx="3852016" cy="50184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</a:t>
            </a:r>
            <a:endParaRPr lang="en-US" sz="1269" dirty="0"/>
          </a:p>
        </p:txBody>
      </p:sp>
      <p:sp>
        <p:nvSpPr>
          <p:cNvPr id="29" name="Text 26"/>
          <p:cNvSpPr/>
          <p:nvPr/>
        </p:nvSpPr>
        <p:spPr>
          <a:xfrm>
            <a:off x="4552104" y="3556443"/>
            <a:ext cx="1072902" cy="50184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78%</a:t>
            </a:r>
            <a:endParaRPr lang="en-US" sz="1269" dirty="0"/>
          </a:p>
        </p:txBody>
      </p:sp>
      <p:sp>
        <p:nvSpPr>
          <p:cNvPr id="30" name="Text 27"/>
          <p:cNvSpPr/>
          <p:nvPr/>
        </p:nvSpPr>
        <p:spPr>
          <a:xfrm>
            <a:off x="5625005" y="3556443"/>
            <a:ext cx="1031574" cy="50184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0.77</a:t>
            </a:r>
            <a:endParaRPr lang="en-US" sz="1269" dirty="0"/>
          </a:p>
        </p:txBody>
      </p:sp>
      <p:sp>
        <p:nvSpPr>
          <p:cNvPr id="31" name="Text 28"/>
          <p:cNvSpPr/>
          <p:nvPr/>
        </p:nvSpPr>
        <p:spPr>
          <a:xfrm>
            <a:off x="6656580" y="3556443"/>
            <a:ext cx="1087943" cy="50184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0.79</a:t>
            </a:r>
            <a:endParaRPr lang="en-US" sz="1269" dirty="0"/>
          </a:p>
        </p:txBody>
      </p:sp>
      <p:sp>
        <p:nvSpPr>
          <p:cNvPr id="32" name="Text 29"/>
          <p:cNvSpPr/>
          <p:nvPr/>
        </p:nvSpPr>
        <p:spPr>
          <a:xfrm>
            <a:off x="7744523" y="3556443"/>
            <a:ext cx="813690" cy="50184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0.76</a:t>
            </a:r>
            <a:endParaRPr lang="en-US" sz="1269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4360115"/>
            <a:ext cx="128588" cy="12858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00113" y="4347614"/>
            <a:ext cx="730269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SVM model significantly outperformed others by capturing non-linear relationships in the demographic data.</a:t>
            </a:r>
            <a:endParaRPr lang="en-US" sz="94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9578" y="1128713"/>
            <a:ext cx="2143125" cy="2143125"/>
          </a:xfrm>
          <a:prstGeom prst="ellipse">
            <a:avLst/>
          </a:prstGeom>
          <a:solidFill>
            <a:srgbClr val="27AE60">
              <a:alpha val="9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953" y="1843088"/>
            <a:ext cx="714375" cy="7143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105131" y="913256"/>
            <a:ext cx="3961209" cy="55721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Summary &amp; Conclusions</a:t>
            </a:r>
            <a:endParaRPr lang="en-US" sz="2436" dirty="0"/>
          </a:p>
        </p:txBody>
      </p:sp>
      <p:sp>
        <p:nvSpPr>
          <p:cNvPr id="6" name="Text 2"/>
          <p:cNvSpPr/>
          <p:nvPr/>
        </p:nvSpPr>
        <p:spPr>
          <a:xfrm>
            <a:off x="3333731" y="1934812"/>
            <a:ext cx="529591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Developed a complete machine learning pipeline for predicting contraceptive method choice using structured demographic data.</a:t>
            </a:r>
            <a:endParaRPr lang="en-US" sz="1159" dirty="0"/>
          </a:p>
        </p:txBody>
      </p:sp>
      <p:sp>
        <p:nvSpPr>
          <p:cNvPr id="7" name="Text 3"/>
          <p:cNvSpPr/>
          <p:nvPr/>
        </p:nvSpPr>
        <p:spPr>
          <a:xfrm>
            <a:off x="3333731" y="2616315"/>
            <a:ext cx="529591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Identified key influencing features through rigorous exploratory data analysis (EDA) and feature engineering.</a:t>
            </a:r>
            <a:endParaRPr lang="en-US" sz="1159" dirty="0"/>
          </a:p>
        </p:txBody>
      </p:sp>
      <p:sp>
        <p:nvSpPr>
          <p:cNvPr id="8" name="Text 4"/>
          <p:cNvSpPr/>
          <p:nvPr/>
        </p:nvSpPr>
        <p:spPr>
          <a:xfrm>
            <a:off x="3333731" y="3297817"/>
            <a:ext cx="529591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Demonstrated that non-linear models like </a:t>
            </a: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SVM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significantly outperform traditional linear baselines.</a:t>
            </a:r>
            <a:endParaRPr lang="en-US" sz="1159" dirty="0"/>
          </a:p>
        </p:txBody>
      </p:sp>
      <p:sp>
        <p:nvSpPr>
          <p:cNvPr id="9" name="Text 5"/>
          <p:cNvSpPr/>
          <p:nvPr/>
        </p:nvSpPr>
        <p:spPr>
          <a:xfrm>
            <a:off x="3333731" y="3979320"/>
            <a:ext cx="529591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SVM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emerged as the most reliable model, achieving ~96% accuracy </a:t>
            </a: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this specific demographic dataset.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3333731" y="4660822"/>
            <a:ext cx="529591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Findings support data-driven public health decisions and improved family planning access in sensitive healthcare domains.</a:t>
            </a:r>
            <a:endParaRPr lang="en-US" sz="115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877677"/>
            <a:ext cx="1518047" cy="5000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3E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References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792956" y="1806364"/>
            <a:ext cx="4750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UCI Repository (1987)</a:t>
            </a: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Contraceptive Method Choice Dataset. Available at: </a:t>
            </a: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archive.ics.uci.edu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792956" y="2233538"/>
            <a:ext cx="4750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Melaku et al. (2025)</a:t>
            </a: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Application of Machine Learning Algorithms to Model </a:t>
            </a: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Predictors of Informed Contraceptive Choice, BMC Public Health.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792956" y="2660712"/>
            <a:ext cx="4750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Yehuala et al. (2024)</a:t>
            </a: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Predicting Non-use of Family Planning Using Machine </a:t>
            </a: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Techniques, BMC Health Services Research.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792956" y="3087886"/>
            <a:ext cx="474523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Kassaw et al. (2025)</a:t>
            </a: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Machine Learning-Based Fertility Prediction, Scientific Reports.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792956" y="3355051"/>
            <a:ext cx="4750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Adem et al. (2025)</a:t>
            </a: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Explainable Machine Learning for Family Planning Decision </a:t>
            </a: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Support, BMJ Public Health.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792956" y="3782225"/>
            <a:ext cx="4750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Pedregosa, F. et al. (2011)</a:t>
            </a: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Scikit-learn: Machine Learning in Python, Journal of </a:t>
            </a:r>
            <a:r>
              <a:rPr lang="en-US" sz="834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 Research.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6300788" y="1131391"/>
            <a:ext cx="2143125" cy="2143125"/>
          </a:xfrm>
          <a:prstGeom prst="ellipse">
            <a:avLst/>
          </a:prstGeom>
          <a:solidFill>
            <a:srgbClr val="2C3E5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701105"/>
            <a:ext cx="571500" cy="571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14270" y="2415480"/>
            <a:ext cx="71616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 &amp; A</a:t>
            </a:r>
            <a:endParaRPr lang="en-US" sz="1808" dirty="0"/>
          </a:p>
        </p:txBody>
      </p:sp>
      <p:sp>
        <p:nvSpPr>
          <p:cNvPr id="13" name="Text 9"/>
          <p:cNvSpPr/>
          <p:nvPr/>
        </p:nvSpPr>
        <p:spPr>
          <a:xfrm>
            <a:off x="6130230" y="3488829"/>
            <a:ext cx="248423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 for your attention!</a:t>
            </a:r>
            <a:endParaRPr lang="en-US" sz="119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2026-03-27T04:05:30Z</dcterms:created>
  <dcterms:modified xsi:type="dcterms:W3CDTF">2026-03-27T04:05:30Z</dcterms:modified>
</cp:coreProperties>
</file>